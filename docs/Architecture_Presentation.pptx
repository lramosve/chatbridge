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0246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ChatBridge is an AI chat platform where third-party apps live inside the conversation. A student can play chess, check weather, or create a Spotify playlist — all without leaving the chat window, with the chatbot staying aware the entire time. Let me walk through the architecture, focusing on the three design decisions that matter most.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the boundary between the chat and the third-party app. The platform has to render an app's UI, call its tools with the right parameters, track its state, know when it's done, and keep the conversation coherent — all without being able to predict what any given app will do. Consider chess: a student says "let's play," a board appears, they ask mid-game "what should I do here?", the chatbot analyzes the board, the game ends, the conversation continues. Every handoff in that sequence is a potential failure point.</a:t>
            </a:r>
          </a:p>
          <a:p>
            <a:endParaRPr/>
          </a:p>
          <a:p>
            <a:r>
              <a:t>This creates three specific hard problems. First, the boundary problem — third parties control their own UI and tools. The platform must be generic enough to support anything from a calculator to a chess game.</a:t>
            </a:r>
          </a:p>
          <a:p>
            <a:endParaRPr/>
          </a:p>
          <a:p>
            <a:r>
              <a:t>Second, the safety constraint. These are K-12 students. A broken or malicious app cannot be allowed to access student data or crash the chat. The security boundary must be enforced by the browser, not by trusting app developers.</a:t>
            </a:r>
          </a:p>
          <a:p>
            <a:endParaRPr/>
          </a:p>
          <a:p>
            <a:r>
              <a:t>Third, the state gap. The LLM needs to reason about what's happening inside an app it doesn't control. When a student asks for help mid-chess-game, the chatbot needs to know the board state. But the app owns that state. We need a protocol for sharing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and most important decision: every third-party app runs in an iframe with the sandbox attribute — and critically, without allow-same-origin.</a:t>
            </a:r>
          </a:p>
          <a:p>
            <a:endParaRPr/>
          </a:p>
          <a:p>
            <a:r>
              <a:t>We evaluated three options. Web Components are lighter weight and share styling, but they run in the same JavaScript context as the platform. A broken component can crash the host page. For third-party code targeting children, that's unacceptable. Server-side rendering avoids client-side execution, but interactive apps like chess need client-side code, so it brings us right back to the same problem.</a:t>
            </a:r>
          </a:p>
          <a:p>
            <a:endParaRPr/>
          </a:p>
          <a:p>
            <a:r>
              <a:t>Iframes give us a separate browsing context. The browser itself enforces the security boundary. Without allow-same-origin, even malicious JavaScript in the app cannot access the parent window's cookies, localStorage, or DOM. This is enforced by the browser's Same-Origin Policy, not by our code.</a:t>
            </a:r>
          </a:p>
          <a:p>
            <a:endParaRPr/>
          </a:p>
          <a:p>
            <a:r>
              <a:t>The trade-off we accepted: this adds friction. Apps can't share styling with the parent. They can't use their own cookies. Any app that needs persistent state must either use its own backend or ask the platform to store data via postMessage. We mitigate this with a JavaScript SDK that handles the boilerplate, but the friction is real. We accept it because the safety guarantee is non-negotiable for K-12.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decision is the typed postMessage protocol. This is arguably the most important thing we build, because it IS the platform. It's the only way apps and the chat can communicate.</a:t>
            </a:r>
          </a:p>
          <a:p>
            <a:endParaRPr/>
          </a:p>
          <a:p>
            <a:r>
              <a:t>Seven message types. Two from platform to app: TOOL_INVOKE sends a tool call with parameters, RESTORE_STATE helps apps recover after an iframe reload. Five from app to platform: APP_READY signals the iframe loaded, TOOL_RESULT returns data, STATE_UPDATE shares ongoing state, APP_COMPLETE signals the interaction is finished, and APP_ERROR reports problems.</a:t>
            </a:r>
          </a:p>
          <a:p>
            <a:endParaRPr/>
          </a:p>
          <a:p>
            <a:r>
              <a:t>Let me explain why these specific messages exist. STATE_UPDATE is separate from TOOL_RESULT because apps have ongoing state that changes outside of tool calls — a chess board changes with every move, not just when the LLM invokes a tool. The LLM needs this state for mid-interaction questions.</a:t>
            </a:r>
          </a:p>
          <a:p>
            <a:endParaRPr/>
          </a:p>
          <a:p>
            <a:r>
              <a:t>APP_COMPLETE is explicit rather than inferred. We don't try to guess when an app is done. Completion signaling is where the project brief says most teams struggle, and inferring it from context is unreliable — is a paused chess game "done"? The app tells us, period.</a:t>
            </a:r>
          </a:p>
          <a:p>
            <a:endParaRPr/>
          </a:p>
          <a:p>
            <a:r>
              <a:t>APP_READY exists because iframes load asynchronously. Without it, we'd send TOOL_INVOKE before the app is listening — a race condition on every cold start.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third decision: plugin tools are just more function calls to the LLM. Chatbox already uses the Vercel AI SDK with function calling and MCP tools. Our key insight is that the LLM doesn't need to know the difference between a built-in web search and a chess move. They're all tools.</a:t>
            </a:r>
          </a:p>
          <a:p>
            <a:endParaRPr/>
          </a:p>
          <a:p>
            <a:r>
              <a:t>The flow: an app publishes a manifest at a well-known URL declaring its tools as JSON Schema. Our plugin registry fetches and validates these manifests, then converts them into the AI SDK's tool format. At generation time, all tools — built-in, MCP, and plugin — are merged into one flat list. When the LLM decides to call a plugin tool, that tool's execute function sends a postMessage to the app's iframe and awaits the result.</a:t>
            </a:r>
          </a:p>
          <a:p>
            <a:endParaRPr/>
          </a:p>
          <a:p>
            <a:r>
              <a:t>What we get for free: the LLM routes user intent automatically, streaming pauses and resumes around tool calls, multi-provider support, and context compaction for long conversations. All of that already works in Chatbox.</a:t>
            </a:r>
          </a:p>
          <a:p>
            <a:endParaRPr/>
          </a:p>
          <a:p>
            <a:r>
              <a:t>The uncertainty here is routing accuracy. An ambiguous query like "help me practice" could match multiple apps. Tool descriptions are our main lever, but we may need a confirmation step or heuristic. Testing with adversarial prompts will be critical.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show how all three decisions work together. User says "let's play chess." The LLM routes to the chess tool via function calling — that's decision three. The iframe loads with sandbox restrictions — decision one. The app signals APP_READY, the board renders. The user plays, asks "what should I do?" The app sends a STATE_UPDATE with the FEN string — that's decision two. The LLM gets the board state in its context, analyzes the position, responds. When the game ends, APP_COMPLETE fires, and the conversation resumes with full context.</a:t>
            </a:r>
          </a:p>
          <a:p>
            <a:endParaRPr/>
          </a:p>
          <a:p>
            <a:r>
              <a:t>The critical point: Weather and Spotify follow the exact same lifecycle. Only the tool schemas and iframe content differ. The protocol is universal.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be honest about what we traded away and what we haven't solved.</a:t>
            </a:r>
          </a:p>
          <a:p>
            <a:endParaRPr/>
          </a:p>
          <a:p>
            <a:r>
              <a:t>Extending Chatbox gives us a mature chat UI for free, but it's a local-first Electron app. Its architecture — IndexedDB, no shared backend — isn't designed for a multi-user web platform. We bolt on Supabase for server-side concerns, but some patterns won't translate cleanly.</a:t>
            </a:r>
          </a:p>
          <a:p>
            <a:endParaRPr/>
          </a:p>
          <a:p>
            <a:r>
              <a:t>The strict iframe sandbox protects students but adds developer friction. Every app needing storage must go through postMessage or use its own backend. Our SDK helps, but it's still more work than just using localStorage.</a:t>
            </a:r>
          </a:p>
          <a:p>
            <a:endParaRPr/>
          </a:p>
          <a:p>
            <a:r>
              <a:t>Open questions we haven't fully solved: OAuth popup flows are fragile across browsers — popup blockers vary and fallback UX is unclear. Context window pressure with 20+ apps would require per-conversation tool pruning. App review pipelines for production K-12 need automated content scanning — out of scope for the sprint but architecturally important. And state restoration after an app crash depends entirely on the app; the platform can't guarantee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decisions define this architecture. Iframes for isolation — safety enforced by the browser. A typed postMessage protocol — the universal contract. Plugin tools as AI SDK function calls — natural routing without reinventing the wheel. And as the project brief says: a simple chat with one rock-solid integration beats a flashy platform where apps break mid-conversation.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ounded Rectangle 1"/>
          <p:cNvSpPr/>
          <p:nvPr/>
        </p:nvSpPr>
        <p:spPr>
          <a:xfrm>
            <a:off x="0" y="2926080"/>
            <a:ext cx="12191695" cy="54864"/>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1371600"/>
          </a:xfrm>
          <a:prstGeom prst="rect">
            <a:avLst/>
          </a:prstGeom>
          <a:noFill/>
        </p:spPr>
        <p:txBody>
          <a:bodyPr wrap="square"/>
          <a:lstStyle/>
          <a:p>
            <a:pPr algn="l">
              <a:defRPr sz="5400" b="1">
                <a:solidFill>
                  <a:srgbClr val="FFFFFF"/>
                </a:solidFill>
              </a:defRPr>
            </a:pPr>
            <a:r>
              <a:t>ChatBridge</a:t>
            </a:r>
          </a:p>
          <a:p>
            <a:pPr algn="l">
              <a:spcBef>
                <a:spcPts val="1400"/>
              </a:spcBef>
              <a:defRPr sz="2200" b="0">
                <a:solidFill>
                  <a:srgbClr val="E2E8F0"/>
                </a:solidFill>
              </a:defRPr>
            </a:pPr>
            <a:r>
              <a:t>An AI Chat Platform Where Third-Party Apps Live Inside the Conversation</a:t>
            </a:r>
          </a:p>
        </p:txBody>
      </p:sp>
      <p:sp>
        <p:nvSpPr>
          <p:cNvPr id="4" name="TextBox 3"/>
          <p:cNvSpPr txBox="1"/>
          <p:nvPr/>
        </p:nvSpPr>
        <p:spPr>
          <a:xfrm>
            <a:off x="914400" y="3474720"/>
            <a:ext cx="10058400" cy="2286000"/>
          </a:xfrm>
          <a:prstGeom prst="rect">
            <a:avLst/>
          </a:prstGeom>
          <a:noFill/>
        </p:spPr>
        <p:txBody>
          <a:bodyPr wrap="square"/>
          <a:lstStyle/>
          <a:p>
            <a:pPr algn="l">
              <a:defRPr sz="2200" b="0">
                <a:solidFill>
                  <a:srgbClr val="3B82F6"/>
                </a:solidFill>
              </a:defRPr>
            </a:pPr>
            <a:r>
              <a:t>Architecture Deep Dive</a:t>
            </a:r>
          </a:p>
          <a:p>
            <a:pPr algn="l">
              <a:spcBef>
                <a:spcPts val="1000"/>
              </a:spcBef>
              <a:defRPr sz="1600" b="0">
                <a:solidFill>
                  <a:srgbClr val="64748B"/>
                </a:solidFill>
              </a:defRPr>
            </a:pPr>
            <a:r>
              <a:t>The core problem  •  Key design decisions  •  Trade-offs &amp; uncertainties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lstStyle/>
          <a:p>
            <a:pPr algn="l">
              <a:defRPr sz="3600" b="1">
                <a:solidFill>
                  <a:srgbClr val="1A1A2E"/>
                </a:solidFill>
              </a:defRPr>
            </a:pPr>
            <a:r>
              <a:t>The Core Problem</a:t>
            </a:r>
          </a:p>
        </p:txBody>
      </p:sp>
      <p:sp>
        <p:nvSpPr>
          <p:cNvPr id="3" name="Rounded Rectangle 2"/>
          <p:cNvSpPr/>
          <p:nvPr/>
        </p:nvSpPr>
        <p:spPr>
          <a:xfrm>
            <a:off x="731520" y="1051560"/>
            <a:ext cx="3657600" cy="45720"/>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698480" cy="1463040"/>
          </a:xfrm>
          <a:prstGeom prst="roundRect">
            <a:avLst>
              <a:gd name="adj" fmla="val 5000"/>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254000" tIns="177800" rtlCol="0" anchor="ctr"/>
          <a:lstStyle/>
          <a:p>
            <a:pPr algn="ctr">
              <a:defRPr sz="1800">
                <a:solidFill>
                  <a:srgbClr val="1A1A2E"/>
                </a:solidFill>
              </a:defRPr>
            </a:pPr>
            <a:r>
              <a:t>How do you let unknown third-party apps run inside a chat — rendering UI, calling tools,</a:t>
            </a:r>
          </a:p>
          <a:p>
            <a:pPr algn="l">
              <a:spcBef>
                <a:spcPts val="400"/>
              </a:spcBef>
              <a:defRPr sz="1800" b="0">
                <a:solidFill>
                  <a:srgbClr val="1A1A2E"/>
                </a:solidFill>
              </a:defRPr>
            </a:pPr>
            <a:r>
              <a:t>maintaining state — while the chatbot stays aware of everything and students stay safe?</a:t>
            </a:r>
          </a:p>
        </p:txBody>
      </p:sp>
      <p:sp>
        <p:nvSpPr>
          <p:cNvPr id="5" name="Rounded Rectangle 4"/>
          <p:cNvSpPr/>
          <p:nvPr/>
        </p:nvSpPr>
        <p:spPr>
          <a:xfrm>
            <a:off x="731520" y="3291840"/>
            <a:ext cx="10698480" cy="1051560"/>
          </a:xfrm>
          <a:prstGeom prst="roundRect">
            <a:avLst>
              <a:gd name="adj" fmla="val 5000"/>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lIns="177800" tIns="101600" rtlCol="0" anchor="ctr"/>
          <a:lstStyle/>
          <a:p>
            <a:pPr algn="ctr">
              <a:defRPr sz="1600" b="1">
                <a:solidFill>
                  <a:srgbClr val="EF4444"/>
                </a:solidFill>
              </a:defRPr>
            </a:pPr>
            <a:r>
              <a:t>The Boundary Problem</a:t>
            </a:r>
          </a:p>
          <a:p>
            <a:pPr algn="l">
              <a:spcBef>
                <a:spcPts val="400"/>
              </a:spcBef>
              <a:defRPr sz="1200" b="0">
                <a:solidFill>
                  <a:srgbClr val="64748B"/>
                </a:solidFill>
              </a:defRPr>
            </a:pPr>
            <a:r>
              <a:t>Third parties control their own UI and tool definitions. The platform cannot predict what any given app will build. Yet it must render the app, pass it data, track its state, know when it's done, and keep the conversation coherent. Every handoff — invocation, render, interaction, completion — is a potential failure point.</a:t>
            </a:r>
          </a:p>
        </p:txBody>
      </p:sp>
      <p:sp>
        <p:nvSpPr>
          <p:cNvPr id="6" name="Rounded Rectangle 5"/>
          <p:cNvSpPr/>
          <p:nvPr/>
        </p:nvSpPr>
        <p:spPr>
          <a:xfrm>
            <a:off x="731520" y="4480560"/>
            <a:ext cx="10698480" cy="1051560"/>
          </a:xfrm>
          <a:prstGeom prst="roundRect">
            <a:avLst>
              <a:gd name="adj" fmla="val 5000"/>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lIns="177800" tIns="101600" rtlCol="0" anchor="ctr"/>
          <a:lstStyle/>
          <a:p>
            <a:pPr algn="ctr">
              <a:defRPr sz="1600" b="1">
                <a:solidFill>
                  <a:srgbClr val="F59E0B"/>
                </a:solidFill>
              </a:defRPr>
            </a:pPr>
            <a:r>
              <a:t>The Safety Constraint</a:t>
            </a:r>
          </a:p>
          <a:p>
            <a:pPr algn="l">
              <a:spcBef>
                <a:spcPts val="400"/>
              </a:spcBef>
              <a:defRPr sz="1200" b="0">
                <a:solidFill>
                  <a:srgbClr val="64748B"/>
                </a:solidFill>
              </a:defRPr>
            </a:pPr>
            <a:r>
              <a:t>These are children. A broken or malicious app could expose student data, display harmful content, or crash the chat. The security boundary must be enforceable by the browser, not dependent on trusting app developers. This rules out any architecture where third-party code runs in the same JavaScript context as the platform.</a:t>
            </a:r>
          </a:p>
        </p:txBody>
      </p:sp>
      <p:sp>
        <p:nvSpPr>
          <p:cNvPr id="7" name="Rounded Rectangle 6"/>
          <p:cNvSpPr/>
          <p:nvPr/>
        </p:nvSpPr>
        <p:spPr>
          <a:xfrm>
            <a:off x="731520" y="5669280"/>
            <a:ext cx="10698480" cy="1051560"/>
          </a:xfrm>
          <a:prstGeom prst="roundRect">
            <a:avLst>
              <a:gd name="adj" fmla="val 5000"/>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177800" tIns="101600" rtlCol="0" anchor="ctr"/>
          <a:lstStyle/>
          <a:p>
            <a:pPr algn="ctr">
              <a:defRPr sz="1600" b="1">
                <a:solidFill>
                  <a:srgbClr val="3B82F6"/>
                </a:solidFill>
              </a:defRPr>
            </a:pPr>
            <a:r>
              <a:t>The State Gap</a:t>
            </a:r>
          </a:p>
          <a:p>
            <a:pPr algn="l">
              <a:spcBef>
                <a:spcPts val="400"/>
              </a:spcBef>
              <a:defRPr sz="1200" b="0">
                <a:solidFill>
                  <a:srgbClr val="64748B"/>
                </a:solidFill>
              </a:defRPr>
            </a:pPr>
            <a:r>
              <a:t>The LLM needs to reason about what's happening inside an app it doesn't control. A student asks 'what should I do here?' during a chess game — the chatbot must know the current board state. But the app owns that state, not the platform. You need a protocol for the app to share state summaries without the platform becoming coupled to app internals.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a:lstStyle/>
          <a:p>
            <a:pPr algn="l">
              <a:defRPr sz="3600" b="1">
                <a:solidFill>
                  <a:srgbClr val="1A1A2E"/>
                </a:solidFill>
              </a:defRPr>
            </a:pPr>
            <a:r>
              <a:t>Decision 1: Iframe Sandboxing (Not Web Components)</a:t>
            </a:r>
          </a:p>
        </p:txBody>
      </p:sp>
      <p:sp>
        <p:nvSpPr>
          <p:cNvPr id="3" name="Rounded Rectangle 2"/>
          <p:cNvSpPr/>
          <p:nvPr/>
        </p:nvSpPr>
        <p:spPr>
          <a:xfrm>
            <a:off x="731520" y="1051560"/>
            <a:ext cx="3657600" cy="45720"/>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698480" cy="731520"/>
          </a:xfrm>
          <a:prstGeom prst="roundRect">
            <a:avLst>
              <a:gd name="adj" fmla="val 5000"/>
            </a:avLst>
          </a:prstGeom>
          <a:solidFill>
            <a:srgbClr val="EFFA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203200" tIns="101600" rtlCol="0" anchor="ctr"/>
          <a:lstStyle/>
          <a:p>
            <a:pPr algn="ctr">
              <a:defRPr sz="1600" b="1">
                <a:solidFill>
                  <a:srgbClr val="10B981"/>
                </a:solidFill>
              </a:defRPr>
            </a:pPr>
            <a:r>
              <a:t>Each third-party app runs in an &lt;iframe sandbox="allow-scripts allow-forms allow-popups"&gt;  —  critically, without allow-same-origin.</a:t>
            </a:r>
          </a:p>
        </p:txBody>
      </p:sp>
      <p:sp>
        <p:nvSpPr>
          <p:cNvPr id="5" name="Rounded Rectangle 4"/>
          <p:cNvSpPr/>
          <p:nvPr/>
        </p:nvSpPr>
        <p:spPr>
          <a:xfrm>
            <a:off x="731520" y="2560320"/>
            <a:ext cx="3474720" cy="2743200"/>
          </a:xfrm>
          <a:prstGeom prst="roundRect">
            <a:avLst>
              <a:gd name="adj" fmla="val 5000"/>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700" b="1">
                <a:solidFill>
                  <a:srgbClr val="EF4444"/>
                </a:solidFill>
              </a:defRPr>
            </a:pPr>
            <a:r>
              <a:t>Web Components  —  Rejected</a:t>
            </a:r>
          </a:p>
          <a:p>
            <a:pPr algn="l">
              <a:spcBef>
                <a:spcPts val="500"/>
              </a:spcBef>
              <a:defRPr sz="1200" b="0">
                <a:solidFill>
                  <a:srgbClr val="64748B"/>
                </a:solidFill>
              </a:defRPr>
            </a:pPr>
            <a:r>
              <a:t>• Runs in the same JS context as the platform</a:t>
            </a:r>
          </a:p>
          <a:p>
            <a:pPr algn="l">
              <a:spcBef>
                <a:spcPts val="500"/>
              </a:spcBef>
              <a:defRPr sz="1200" b="0">
                <a:solidFill>
                  <a:srgbClr val="64748B"/>
                </a:solidFill>
              </a:defRPr>
            </a:pPr>
            <a:r>
              <a:t>• A broken component can crash the host page</a:t>
            </a:r>
          </a:p>
          <a:p>
            <a:pPr algn="l">
              <a:spcBef>
                <a:spcPts val="500"/>
              </a:spcBef>
              <a:defRPr sz="1200" b="0">
                <a:solidFill>
                  <a:srgbClr val="64748B"/>
                </a:solidFill>
              </a:defRPr>
            </a:pPr>
            <a:r>
              <a:t>• No true isolation — relies on developer discipline</a:t>
            </a:r>
          </a:p>
          <a:p>
            <a:pPr algn="l">
              <a:spcBef>
                <a:spcPts val="500"/>
              </a:spcBef>
              <a:defRPr sz="1200" b="0">
                <a:solidFill>
                  <a:srgbClr val="64748B"/>
                </a:solidFill>
              </a:defRPr>
            </a:pPr>
            <a:r>
              <a:t>• Unacceptable for third-party code targeting children</a:t>
            </a:r>
          </a:p>
        </p:txBody>
      </p:sp>
      <p:sp>
        <p:nvSpPr>
          <p:cNvPr id="6" name="Rounded Rectangle 5"/>
          <p:cNvSpPr/>
          <p:nvPr/>
        </p:nvSpPr>
        <p:spPr>
          <a:xfrm>
            <a:off x="4389120" y="2560320"/>
            <a:ext cx="3474720" cy="2743200"/>
          </a:xfrm>
          <a:prstGeom prst="roundRect">
            <a:avLst>
              <a:gd name="adj" fmla="val 5000"/>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700" b="1">
                <a:solidFill>
                  <a:srgbClr val="F59E0B"/>
                </a:solidFill>
              </a:defRPr>
            </a:pPr>
            <a:r>
              <a:t>Server-Side Rendering  —  Rejected</a:t>
            </a:r>
          </a:p>
          <a:p>
            <a:pPr algn="l">
              <a:spcBef>
                <a:spcPts val="500"/>
              </a:spcBef>
              <a:defRPr sz="1200" b="0">
                <a:solidFill>
                  <a:srgbClr val="64748B"/>
                </a:solidFill>
              </a:defRPr>
            </a:pPr>
            <a:r>
              <a:t>• App UI rendered on server, streamed as HTML</a:t>
            </a:r>
          </a:p>
          <a:p>
            <a:pPr algn="l">
              <a:spcBef>
                <a:spcPts val="500"/>
              </a:spcBef>
              <a:defRPr sz="1200" b="0">
                <a:solidFill>
                  <a:srgbClr val="64748B"/>
                </a:solidFill>
              </a:defRPr>
            </a:pPr>
            <a:r>
              <a:t>• No client-side interactivity without hydration</a:t>
            </a:r>
          </a:p>
          <a:p>
            <a:pPr algn="l">
              <a:spcBef>
                <a:spcPts val="500"/>
              </a:spcBef>
              <a:defRPr sz="1200" b="0">
                <a:solidFill>
                  <a:srgbClr val="64748B"/>
                </a:solidFill>
              </a:defRPr>
            </a:pPr>
            <a:r>
              <a:t>• Hydration brings us back to needing client-side code</a:t>
            </a:r>
          </a:p>
          <a:p>
            <a:pPr algn="l">
              <a:spcBef>
                <a:spcPts val="500"/>
              </a:spcBef>
              <a:defRPr sz="1200" b="0">
                <a:solidFill>
                  <a:srgbClr val="64748B"/>
                </a:solidFill>
              </a:defRPr>
            </a:pPr>
            <a:r>
              <a:t>• Poor fit for interactive apps like chess</a:t>
            </a:r>
          </a:p>
        </p:txBody>
      </p:sp>
      <p:sp>
        <p:nvSpPr>
          <p:cNvPr id="7" name="Rounded Rectangle 6"/>
          <p:cNvSpPr/>
          <p:nvPr/>
        </p:nvSpPr>
        <p:spPr>
          <a:xfrm>
            <a:off x="8046720" y="2560320"/>
            <a:ext cx="3474720" cy="2743200"/>
          </a:xfrm>
          <a:prstGeom prst="roundRect">
            <a:avLst>
              <a:gd name="adj" fmla="val 5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700" b="1">
                <a:solidFill>
                  <a:srgbClr val="10B981"/>
                </a:solidFill>
              </a:defRPr>
            </a:pPr>
            <a:r>
              <a:t>Iframe Sandbox  —  Chosen</a:t>
            </a:r>
          </a:p>
          <a:p>
            <a:pPr algn="l">
              <a:spcBef>
                <a:spcPts val="500"/>
              </a:spcBef>
              <a:defRPr sz="1200" b="0">
                <a:solidFill>
                  <a:srgbClr val="64748B"/>
                </a:solidFill>
              </a:defRPr>
            </a:pPr>
            <a:r>
              <a:t>• Separate browsing context — true isolation</a:t>
            </a:r>
          </a:p>
          <a:p>
            <a:pPr algn="l">
              <a:spcBef>
                <a:spcPts val="500"/>
              </a:spcBef>
              <a:defRPr sz="1200" b="0">
                <a:solidFill>
                  <a:srgbClr val="64748B"/>
                </a:solidFill>
              </a:defRPr>
            </a:pPr>
            <a:r>
              <a:t>• Browser enforces security (not our code)</a:t>
            </a:r>
          </a:p>
          <a:p>
            <a:pPr algn="l">
              <a:spcBef>
                <a:spcPts val="500"/>
              </a:spcBef>
              <a:defRPr sz="1200" b="0">
                <a:solidFill>
                  <a:srgbClr val="64748B"/>
                </a:solidFill>
              </a:defRPr>
            </a:pPr>
            <a:r>
              <a:t>• Works with any frontend framework</a:t>
            </a:r>
          </a:p>
          <a:p>
            <a:pPr algn="l">
              <a:spcBef>
                <a:spcPts val="500"/>
              </a:spcBef>
              <a:defRPr sz="1200" b="0">
                <a:solidFill>
                  <a:srgbClr val="64748B"/>
                </a:solidFill>
              </a:defRPr>
            </a:pPr>
            <a:r>
              <a:t>• Trade-off: async communication only (postMessage)</a:t>
            </a:r>
          </a:p>
        </p:txBody>
      </p:sp>
      <p:sp>
        <p:nvSpPr>
          <p:cNvPr id="8" name="Rounded Rectangle 7"/>
          <p:cNvSpPr/>
          <p:nvPr/>
        </p:nvSpPr>
        <p:spPr>
          <a:xfrm>
            <a:off x="731520" y="5577840"/>
            <a:ext cx="10698480" cy="822960"/>
          </a:xfrm>
          <a:prstGeom prst="roundRect">
            <a:avLst>
              <a:gd name="adj" fmla="val 5000"/>
            </a:avLst>
          </a:prstGeom>
          <a:solidFill>
            <a:srgbClr val="FEF9C3"/>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lIns="203200" tIns="101600" rtlCol="0" anchor="ctr"/>
          <a:lstStyle/>
          <a:p>
            <a:pPr algn="ctr">
              <a:defRPr sz="1400" b="1">
                <a:solidFill>
                  <a:srgbClr val="F59E0B"/>
                </a:solidFill>
              </a:defRPr>
            </a:pPr>
            <a:r>
              <a:t>Trade-off accepted:</a:t>
            </a:r>
          </a:p>
          <a:p>
            <a:pPr algn="l">
              <a:spcBef>
                <a:spcPts val="300"/>
              </a:spcBef>
              <a:defRPr sz="1200" b="0">
                <a:solidFill>
                  <a:srgbClr val="64748B"/>
                </a:solidFill>
              </a:defRPr>
            </a:pPr>
            <a:r>
              <a:t>Iframes impose friction — apps can't share styling with the parent, communication is async, and apps needing persistent state must use postMessage to request storage. We accept this friction because the security guarantee is non-negotiable for K-12.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lstStyle/>
          <a:p>
            <a:pPr algn="l">
              <a:defRPr sz="3600" b="1">
                <a:solidFill>
                  <a:srgbClr val="1A1A2E"/>
                </a:solidFill>
              </a:defRPr>
            </a:pPr>
            <a:r>
              <a:t>Decision 2: Typed PostMessage Protocol</a:t>
            </a:r>
          </a:p>
        </p:txBody>
      </p:sp>
      <p:sp>
        <p:nvSpPr>
          <p:cNvPr id="3" name="Rounded Rectangle 2"/>
          <p:cNvSpPr/>
          <p:nvPr/>
        </p:nvSpPr>
        <p:spPr>
          <a:xfrm>
            <a:off x="731520" y="1051560"/>
            <a:ext cx="3657600" cy="45720"/>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698480" cy="731520"/>
          </a:xfrm>
          <a:prstGeom prst="roundRect">
            <a:avLst>
              <a:gd name="adj" fmla="val 5000"/>
            </a:avLst>
          </a:prstGeom>
          <a:solidFill>
            <a:srgbClr val="EBF5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203200" tIns="101600" rtlCol="0" anchor="ctr"/>
          <a:lstStyle/>
          <a:p>
            <a:pPr algn="ctr">
              <a:defRPr sz="1600" b="1">
                <a:solidFill>
                  <a:srgbClr val="3B82F6"/>
                </a:solidFill>
              </a:defRPr>
            </a:pPr>
            <a:r>
              <a:t>This protocol IS the platform. It's the only way apps and the chat can talk. Get it wrong, and nothing works.</a:t>
            </a:r>
          </a:p>
        </p:txBody>
      </p:sp>
      <p:sp>
        <p:nvSpPr>
          <p:cNvPr id="5" name="Rounded Rectangle 4"/>
          <p:cNvSpPr/>
          <p:nvPr/>
        </p:nvSpPr>
        <p:spPr>
          <a:xfrm>
            <a:off x="731520" y="2560320"/>
            <a:ext cx="5120640" cy="3840480"/>
          </a:xfrm>
          <a:prstGeom prst="roundRect">
            <a:avLst>
              <a:gd name="adj" fmla="val 5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800" b="1">
                <a:solidFill>
                  <a:srgbClr val="1A1A2E"/>
                </a:solidFill>
              </a:defRPr>
            </a:pPr>
            <a:r>
              <a:t>Seven Message Types</a:t>
            </a:r>
          </a:p>
          <a:p>
            <a:pPr algn="l">
              <a:spcBef>
                <a:spcPts val="300"/>
              </a:spcBef>
              <a:defRPr sz="1300" b="1">
                <a:solidFill>
                  <a:srgbClr val="3B82F6"/>
                </a:solidFill>
              </a:defRPr>
            </a:pPr>
            <a:r>
              <a:t>Platform → App:</a:t>
            </a:r>
          </a:p>
          <a:p>
            <a:pPr algn="l">
              <a:spcBef>
                <a:spcPts val="300"/>
              </a:spcBef>
              <a:defRPr sz="1300" b="0">
                <a:solidFill>
                  <a:srgbClr val="64748B"/>
                </a:solidFill>
              </a:defRPr>
            </a:pPr>
            <a:r>
              <a:t>  TOOL_INVOKE — call a tool with parameters</a:t>
            </a:r>
          </a:p>
          <a:p>
            <a:pPr algn="l">
              <a:spcBef>
                <a:spcPts val="300"/>
              </a:spcBef>
              <a:defRPr sz="1300" b="0">
                <a:solidFill>
                  <a:srgbClr val="64748B"/>
                </a:solidFill>
              </a:defRPr>
            </a:pPr>
            <a:r>
              <a:t>  RESTORE_STATE — resume after iframe reload</a:t>
            </a:r>
          </a:p>
          <a:p>
            <a:pPr algn="l">
              <a:spcBef>
                <a:spcPts val="300"/>
              </a:spcBef>
              <a:defRPr sz="1300" b="0">
                <a:solidFill>
                  <a:srgbClr val="64748B"/>
                </a:solidFill>
              </a:defRPr>
            </a:pPr>
            <a:endParaRPr/>
          </a:p>
          <a:p>
            <a:pPr algn="l">
              <a:spcBef>
                <a:spcPts val="300"/>
              </a:spcBef>
              <a:defRPr sz="1300" b="1">
                <a:solidFill>
                  <a:srgbClr val="10B981"/>
                </a:solidFill>
              </a:defRPr>
            </a:pPr>
            <a:r>
              <a:t>App → Platform:</a:t>
            </a:r>
          </a:p>
          <a:p>
            <a:pPr algn="l">
              <a:spcBef>
                <a:spcPts val="300"/>
              </a:spcBef>
              <a:defRPr sz="1300" b="0">
                <a:solidFill>
                  <a:srgbClr val="64748B"/>
                </a:solidFill>
              </a:defRPr>
            </a:pPr>
            <a:r>
              <a:t>  APP_READY — iframe loaded, accepting commands</a:t>
            </a:r>
          </a:p>
          <a:p>
            <a:pPr algn="l">
              <a:spcBef>
                <a:spcPts val="300"/>
              </a:spcBef>
              <a:defRPr sz="1300" b="0">
                <a:solidFill>
                  <a:srgbClr val="64748B"/>
                </a:solidFill>
              </a:defRPr>
            </a:pPr>
            <a:r>
              <a:t>  TOOL_RESULT — response data + status</a:t>
            </a:r>
          </a:p>
          <a:p>
            <a:pPr algn="l">
              <a:spcBef>
                <a:spcPts val="300"/>
              </a:spcBef>
              <a:defRPr sz="1300" b="0">
                <a:solidFill>
                  <a:srgbClr val="64748B"/>
                </a:solidFill>
              </a:defRPr>
            </a:pPr>
            <a:r>
              <a:t>  STATE_UPDATE — lightweight state for LLM context</a:t>
            </a:r>
          </a:p>
          <a:p>
            <a:pPr algn="l">
              <a:spcBef>
                <a:spcPts val="300"/>
              </a:spcBef>
              <a:defRPr sz="1300" b="0">
                <a:solidFill>
                  <a:srgbClr val="64748B"/>
                </a:solidFill>
              </a:defRPr>
            </a:pPr>
            <a:r>
              <a:t>  APP_COMPLETE — interaction finished</a:t>
            </a:r>
          </a:p>
          <a:p>
            <a:pPr algn="l">
              <a:spcBef>
                <a:spcPts val="300"/>
              </a:spcBef>
              <a:defRPr sz="1300" b="0">
                <a:solidFill>
                  <a:srgbClr val="64748B"/>
                </a:solidFill>
              </a:defRPr>
            </a:pPr>
            <a:r>
              <a:t>  APP_ERROR — error with details</a:t>
            </a:r>
          </a:p>
          <a:p>
            <a:pPr algn="l">
              <a:spcBef>
                <a:spcPts val="300"/>
              </a:spcBef>
              <a:defRPr sz="1300" b="0">
                <a:solidFill>
                  <a:srgbClr val="64748B"/>
                </a:solidFill>
              </a:defRPr>
            </a:pPr>
            <a:endParaRPr/>
          </a:p>
          <a:p>
            <a:pPr algn="l">
              <a:spcBef>
                <a:spcPts val="300"/>
              </a:spcBef>
              <a:defRPr sz="1300" b="1">
                <a:solidFill>
                  <a:srgbClr val="1A1A2E"/>
                </a:solidFill>
              </a:defRPr>
            </a:pPr>
            <a:r>
              <a:t>Every message: correlation ID + timestamp + seq #</a:t>
            </a:r>
          </a:p>
          <a:p>
            <a:pPr algn="l">
              <a:spcBef>
                <a:spcPts val="300"/>
              </a:spcBef>
              <a:defRPr sz="1300" b="1">
                <a:solidFill>
                  <a:srgbClr val="1A1A2E"/>
                </a:solidFill>
              </a:defRPr>
            </a:pPr>
            <a:r>
              <a:t>Origin validated on both sides, always.</a:t>
            </a:r>
          </a:p>
        </p:txBody>
      </p:sp>
      <p:sp>
        <p:nvSpPr>
          <p:cNvPr id="6" name="Rounded Rectangle 5"/>
          <p:cNvSpPr/>
          <p:nvPr/>
        </p:nvSpPr>
        <p:spPr>
          <a:xfrm>
            <a:off x="6309360" y="2560320"/>
            <a:ext cx="5120640" cy="3840480"/>
          </a:xfrm>
          <a:prstGeom prst="roundRect">
            <a:avLst>
              <a:gd name="adj" fmla="val 5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800" b="1">
                <a:solidFill>
                  <a:srgbClr val="1A1A2E"/>
                </a:solidFill>
              </a:defRPr>
            </a:pPr>
            <a:r>
              <a:t>Why These Specific Messages?</a:t>
            </a:r>
          </a:p>
          <a:p>
            <a:pPr algn="l">
              <a:spcBef>
                <a:spcPts val="800"/>
              </a:spcBef>
              <a:defRPr sz="1300" b="1">
                <a:solidFill>
                  <a:srgbClr val="1A1A2E"/>
                </a:solidFill>
              </a:defRPr>
            </a:pPr>
            <a:r>
              <a:t>STATE_UPDATE is separate from TOOL_RESULT</a:t>
            </a:r>
          </a:p>
          <a:p>
            <a:pPr algn="l">
              <a:spcBef>
                <a:spcPts val="200"/>
              </a:spcBef>
              <a:defRPr sz="1100" b="0">
                <a:solidFill>
                  <a:srgbClr val="64748B"/>
                </a:solidFill>
              </a:defRPr>
            </a:pPr>
            <a:r>
              <a:t>Apps have ongoing state (chess board) that changes outside of tool calls. The LLM needs this for mid-interaction questions like 'what should I do here?'</a:t>
            </a:r>
          </a:p>
          <a:p>
            <a:pPr algn="l">
              <a:spcBef>
                <a:spcPts val="800"/>
              </a:spcBef>
              <a:defRPr sz="1300" b="1">
                <a:solidFill>
                  <a:srgbClr val="1A1A2E"/>
                </a:solidFill>
              </a:defRPr>
            </a:pPr>
            <a:r>
              <a:t>APP_COMPLETE is explicit, not inferred</a:t>
            </a:r>
          </a:p>
          <a:p>
            <a:pPr algn="l">
              <a:spcBef>
                <a:spcPts val="200"/>
              </a:spcBef>
              <a:defRPr sz="1100" b="0">
                <a:solidFill>
                  <a:srgbClr val="64748B"/>
                </a:solidFill>
              </a:defRPr>
            </a:pPr>
            <a:r>
              <a:t>Completion signaling is where most teams struggle. We don't try to guess when an app is done — the app tells us. Ambiguity here breaks the conversation flow.</a:t>
            </a:r>
          </a:p>
          <a:p>
            <a:pPr algn="l">
              <a:spcBef>
                <a:spcPts val="800"/>
              </a:spcBef>
              <a:defRPr sz="1300" b="1">
                <a:solidFill>
                  <a:srgbClr val="1A1A2E"/>
                </a:solidFill>
              </a:defRPr>
            </a:pPr>
            <a:r>
              <a:t>APP_READY exists because iframes load async</a:t>
            </a:r>
          </a:p>
          <a:p>
            <a:pPr algn="l">
              <a:spcBef>
                <a:spcPts val="200"/>
              </a:spcBef>
              <a:defRPr sz="1100" b="0">
                <a:solidFill>
                  <a:srgbClr val="64748B"/>
                </a:solidFill>
              </a:defRPr>
            </a:pPr>
            <a:r>
              <a:t>Without it, we'd send TOOL_INVOKE before the app is listening. Race condition on every cold start. APP_READY is the handshake.</a:t>
            </a:r>
          </a:p>
          <a:p>
            <a:pPr algn="l">
              <a:spcBef>
                <a:spcPts val="800"/>
              </a:spcBef>
              <a:defRPr sz="1300" b="1">
                <a:solidFill>
                  <a:srgbClr val="1A1A2E"/>
                </a:solidFill>
              </a:defRPr>
            </a:pPr>
            <a:r>
              <a:t>No platform-to-app state push</a:t>
            </a:r>
          </a:p>
          <a:p>
            <a:pPr algn="l">
              <a:spcBef>
                <a:spcPts val="200"/>
              </a:spcBef>
              <a:defRPr sz="1100" b="0">
                <a:solidFill>
                  <a:srgbClr val="64748B"/>
                </a:solidFill>
              </a:defRPr>
            </a:pPr>
            <a:r>
              <a:t>The app owns its state. The platform only stores a summary. Pushing state creates a sync problem. The app is the source of truth, always.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lstStyle/>
          <a:p>
            <a:pPr algn="l">
              <a:defRPr sz="3600" b="1">
                <a:solidFill>
                  <a:srgbClr val="1A1A2E"/>
                </a:solidFill>
              </a:defRPr>
            </a:pPr>
            <a:r>
              <a:t>Decision 3: Plugin Tools as AI SDK Function Calls</a:t>
            </a:r>
          </a:p>
        </p:txBody>
      </p:sp>
      <p:sp>
        <p:nvSpPr>
          <p:cNvPr id="3" name="Rounded Rectangle 2"/>
          <p:cNvSpPr/>
          <p:nvPr/>
        </p:nvSpPr>
        <p:spPr>
          <a:xfrm>
            <a:off x="731520" y="1051560"/>
            <a:ext cx="3657600" cy="45720"/>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698480" cy="822960"/>
          </a:xfrm>
          <a:prstGeom prst="roundRect">
            <a:avLst>
              <a:gd name="adj" fmla="val 5000"/>
            </a:avLst>
          </a:prstGeom>
          <a:solidFill>
            <a:srgbClr val="EFFA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203200" tIns="101600" rtlCol="0" anchor="ctr"/>
          <a:lstStyle/>
          <a:p>
            <a:pPr algn="ctr">
              <a:defRPr sz="1600" b="1">
                <a:solidFill>
                  <a:srgbClr val="10B981"/>
                </a:solidFill>
              </a:defRPr>
            </a:pPr>
            <a:r>
              <a:t>Key insight: Chatbox already uses the Vercel AI SDK with function calling + MCP tools.</a:t>
            </a:r>
          </a:p>
          <a:p>
            <a:pPr algn="l">
              <a:spcBef>
                <a:spcPts val="400"/>
              </a:spcBef>
              <a:defRPr sz="1400" b="0">
                <a:solidFill>
                  <a:srgbClr val="64748B"/>
                </a:solidFill>
              </a:defRPr>
            </a:pPr>
            <a:r>
              <a:t>Plugin tools are just more tools. The LLM doesn't need to know the difference between a built-in web search and a chess move.</a:t>
            </a:r>
          </a:p>
        </p:txBody>
      </p:sp>
      <p:sp>
        <p:nvSpPr>
          <p:cNvPr id="5" name="Rounded Rectangle 4"/>
          <p:cNvSpPr/>
          <p:nvPr/>
        </p:nvSpPr>
        <p:spPr>
          <a:xfrm>
            <a:off x="731520" y="2743200"/>
            <a:ext cx="2377440" cy="1645920"/>
          </a:xfrm>
          <a:prstGeom prst="roundRect">
            <a:avLst>
              <a:gd name="adj" fmla="val 5000"/>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1500" b="1">
                <a:solidFill>
                  <a:srgbClr val="3B82F6"/>
                </a:solidFill>
              </a:defRPr>
            </a:pPr>
            <a:r>
              <a:t>App Manifest</a:t>
            </a:r>
          </a:p>
          <a:p>
            <a:pPr algn="ctr">
              <a:spcBef>
                <a:spcPts val="600"/>
              </a:spcBef>
              <a:defRPr sz="1100" b="0">
                <a:solidFill>
                  <a:srgbClr val="64748B"/>
                </a:solidFill>
              </a:defRPr>
            </a:pPr>
            <a:r>
              <a:t>JSON at /chatbridge-manifest.json</a:t>
            </a:r>
            <a:br/>
            <a:r>
              <a:t>declares tools + parameters</a:t>
            </a:r>
            <a:br/>
            <a:r>
              <a:t>as JSON Schema</a:t>
            </a:r>
          </a:p>
        </p:txBody>
      </p:sp>
      <p:sp>
        <p:nvSpPr>
          <p:cNvPr id="6" name="Rounded Rectangle 5"/>
          <p:cNvSpPr/>
          <p:nvPr/>
        </p:nvSpPr>
        <p:spPr>
          <a:xfrm>
            <a:off x="3337560" y="2743200"/>
            <a:ext cx="2377440" cy="1645920"/>
          </a:xfrm>
          <a:prstGeom prst="roundRect">
            <a:avLst>
              <a:gd name="adj" fmla="val 5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1500" b="1">
                <a:solidFill>
                  <a:srgbClr val="10B981"/>
                </a:solidFill>
              </a:defRPr>
            </a:pPr>
            <a:r>
              <a:t>Plugin Registry</a:t>
            </a:r>
          </a:p>
          <a:p>
            <a:pPr algn="ctr">
              <a:spcBef>
                <a:spcPts val="600"/>
              </a:spcBef>
              <a:defRPr sz="1100" b="0">
                <a:solidFill>
                  <a:srgbClr val="64748B"/>
                </a:solidFill>
              </a:defRPr>
            </a:pPr>
            <a:r>
              <a:t>Fetches + validates manifests</a:t>
            </a:r>
            <a:br/>
            <a:r>
              <a:t>Converts tool schemas to</a:t>
            </a:r>
            <a:br/>
            <a:r>
              <a:t>AI SDK tool() format</a:t>
            </a:r>
          </a:p>
        </p:txBody>
      </p:sp>
      <p:sp>
        <p:nvSpPr>
          <p:cNvPr id="7" name="Rounded Rectangle 6"/>
          <p:cNvSpPr/>
          <p:nvPr/>
        </p:nvSpPr>
        <p:spPr>
          <a:xfrm>
            <a:off x="5943600" y="2743200"/>
            <a:ext cx="2377440" cy="1645920"/>
          </a:xfrm>
          <a:prstGeom prst="roundRect">
            <a:avLst>
              <a:gd name="adj" fmla="val 5000"/>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1500" b="1">
                <a:solidFill>
                  <a:srgbClr val="F59E0B"/>
                </a:solidFill>
              </a:defRPr>
            </a:pPr>
            <a:r>
              <a:t>streamText()</a:t>
            </a:r>
          </a:p>
          <a:p>
            <a:pPr algn="ctr">
              <a:spcBef>
                <a:spcPts val="600"/>
              </a:spcBef>
              <a:defRPr sz="1100" b="0">
                <a:solidFill>
                  <a:srgbClr val="64748B"/>
                </a:solidFill>
              </a:defRPr>
            </a:pPr>
            <a:r>
              <a:t>All tools merged:</a:t>
            </a:r>
            <a:br/>
            <a:r>
              <a:t>built-in + MCP + plugin</a:t>
            </a:r>
            <a:br/>
            <a:r>
              <a:t>LLM sees one flat list</a:t>
            </a:r>
          </a:p>
        </p:txBody>
      </p:sp>
      <p:sp>
        <p:nvSpPr>
          <p:cNvPr id="8" name="Rounded Rectangle 7"/>
          <p:cNvSpPr/>
          <p:nvPr/>
        </p:nvSpPr>
        <p:spPr>
          <a:xfrm>
            <a:off x="8549640" y="2743200"/>
            <a:ext cx="2377440" cy="1645920"/>
          </a:xfrm>
          <a:prstGeom prst="roundRect">
            <a:avLst>
              <a:gd name="adj" fmla="val 5000"/>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1500" b="1">
                <a:solidFill>
                  <a:srgbClr val="EF4444"/>
                </a:solidFill>
              </a:defRPr>
            </a:pPr>
            <a:r>
              <a:t>Tool Execute</a:t>
            </a:r>
          </a:p>
          <a:p>
            <a:pPr algn="ctr">
              <a:spcBef>
                <a:spcPts val="600"/>
              </a:spcBef>
              <a:defRPr sz="1100" b="0">
                <a:solidFill>
                  <a:srgbClr val="64748B"/>
                </a:solidFill>
              </a:defRPr>
            </a:pPr>
            <a:r>
              <a:t>Plugin tool's execute()</a:t>
            </a:r>
            <a:br/>
            <a:r>
              <a:t>sends postMessage to iframe</a:t>
            </a:r>
            <a:br/>
            <a:r>
              <a:t>awaits TOOL_RESULT</a:t>
            </a:r>
          </a:p>
        </p:txBody>
      </p:sp>
      <p:sp>
        <p:nvSpPr>
          <p:cNvPr id="9" name="TextBox 8"/>
          <p:cNvSpPr txBox="1"/>
          <p:nvPr/>
        </p:nvSpPr>
        <p:spPr>
          <a:xfrm>
            <a:off x="3108960" y="3291840"/>
            <a:ext cx="274320" cy="457200"/>
          </a:xfrm>
          <a:prstGeom prst="rect">
            <a:avLst/>
          </a:prstGeom>
          <a:noFill/>
        </p:spPr>
        <p:txBody>
          <a:bodyPr wrap="square"/>
          <a:lstStyle/>
          <a:p>
            <a:pPr algn="ctr">
              <a:defRPr sz="2400" b="1">
                <a:solidFill>
                  <a:srgbClr val="64748B"/>
                </a:solidFill>
              </a:defRPr>
            </a:pPr>
            <a:r>
              <a:t>→</a:t>
            </a:r>
          </a:p>
        </p:txBody>
      </p:sp>
      <p:sp>
        <p:nvSpPr>
          <p:cNvPr id="10" name="TextBox 9"/>
          <p:cNvSpPr txBox="1"/>
          <p:nvPr/>
        </p:nvSpPr>
        <p:spPr>
          <a:xfrm>
            <a:off x="5715000" y="3291840"/>
            <a:ext cx="274320" cy="457200"/>
          </a:xfrm>
          <a:prstGeom prst="rect">
            <a:avLst/>
          </a:prstGeom>
          <a:noFill/>
        </p:spPr>
        <p:txBody>
          <a:bodyPr wrap="square"/>
          <a:lstStyle/>
          <a:p>
            <a:pPr algn="ctr">
              <a:defRPr sz="2400" b="1">
                <a:solidFill>
                  <a:srgbClr val="64748B"/>
                </a:solidFill>
              </a:defRPr>
            </a:pPr>
            <a:r>
              <a:t>→</a:t>
            </a:r>
          </a:p>
        </p:txBody>
      </p:sp>
      <p:sp>
        <p:nvSpPr>
          <p:cNvPr id="11" name="TextBox 10"/>
          <p:cNvSpPr txBox="1"/>
          <p:nvPr/>
        </p:nvSpPr>
        <p:spPr>
          <a:xfrm>
            <a:off x="8321040" y="3291840"/>
            <a:ext cx="274320" cy="457200"/>
          </a:xfrm>
          <a:prstGeom prst="rect">
            <a:avLst/>
          </a:prstGeom>
          <a:noFill/>
        </p:spPr>
        <p:txBody>
          <a:bodyPr wrap="square"/>
          <a:lstStyle/>
          <a:p>
            <a:pPr algn="ctr">
              <a:defRPr sz="2400" b="1">
                <a:solidFill>
                  <a:srgbClr val="64748B"/>
                </a:solidFill>
              </a:defRPr>
            </a:pPr>
            <a:r>
              <a:t>→</a:t>
            </a:r>
          </a:p>
        </p:txBody>
      </p:sp>
      <p:sp>
        <p:nvSpPr>
          <p:cNvPr id="12" name="Rounded Rectangle 11"/>
          <p:cNvSpPr/>
          <p:nvPr/>
        </p:nvSpPr>
        <p:spPr>
          <a:xfrm>
            <a:off x="731520" y="4754880"/>
            <a:ext cx="5120640" cy="1645920"/>
          </a:xfrm>
          <a:prstGeom prst="roundRect">
            <a:avLst>
              <a:gd name="adj" fmla="val 5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600" b="1">
                <a:solidFill>
                  <a:srgbClr val="10B981"/>
                </a:solidFill>
              </a:defRPr>
            </a:pPr>
            <a:r>
              <a:t>What we get for free</a:t>
            </a:r>
          </a:p>
          <a:p>
            <a:pPr algn="l">
              <a:spcBef>
                <a:spcPts val="400"/>
              </a:spcBef>
              <a:defRPr sz="1200" b="0">
                <a:solidFill>
                  <a:srgbClr val="64748B"/>
                </a:solidFill>
              </a:defRPr>
            </a:pPr>
            <a:r>
              <a:t>• LLM routes user intent to the right app automatically</a:t>
            </a:r>
          </a:p>
          <a:p>
            <a:pPr algn="l">
              <a:spcBef>
                <a:spcPts val="400"/>
              </a:spcBef>
              <a:defRPr sz="1200" b="0">
                <a:solidFill>
                  <a:srgbClr val="64748B"/>
                </a:solidFill>
              </a:defRPr>
            </a:pPr>
            <a:r>
              <a:t>• Streaming responses pause/resume around tool calls</a:t>
            </a:r>
          </a:p>
          <a:p>
            <a:pPr algn="l">
              <a:spcBef>
                <a:spcPts val="400"/>
              </a:spcBef>
              <a:defRPr sz="1200" b="0">
                <a:solidFill>
                  <a:srgbClr val="64748B"/>
                </a:solidFill>
              </a:defRPr>
            </a:pPr>
            <a:r>
              <a:t>• Multi-provider support (Claude, GPT-4o, etc.)</a:t>
            </a:r>
          </a:p>
          <a:p>
            <a:pPr algn="l">
              <a:spcBef>
                <a:spcPts val="400"/>
              </a:spcBef>
              <a:defRPr sz="1200" b="0">
                <a:solidFill>
                  <a:srgbClr val="64748B"/>
                </a:solidFill>
              </a:defRPr>
            </a:pPr>
            <a:r>
              <a:t>• Context compaction for long conversations</a:t>
            </a:r>
          </a:p>
        </p:txBody>
      </p:sp>
      <p:sp>
        <p:nvSpPr>
          <p:cNvPr id="13" name="Rounded Rectangle 12"/>
          <p:cNvSpPr/>
          <p:nvPr/>
        </p:nvSpPr>
        <p:spPr>
          <a:xfrm>
            <a:off x="6309360" y="4754880"/>
            <a:ext cx="5120640" cy="1645920"/>
          </a:xfrm>
          <a:prstGeom prst="roundRect">
            <a:avLst>
              <a:gd name="adj" fmla="val 5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600" b="1">
                <a:solidFill>
                  <a:srgbClr val="EF4444"/>
                </a:solidFill>
              </a:defRPr>
            </a:pPr>
            <a:r>
              <a:t>Uncertainty: LLM routing accuracy</a:t>
            </a:r>
          </a:p>
          <a:p>
            <a:pPr algn="l">
              <a:spcBef>
                <a:spcPts val="400"/>
              </a:spcBef>
              <a:defRPr sz="1200" b="0">
                <a:solidFill>
                  <a:srgbClr val="64748B"/>
                </a:solidFill>
              </a:defRPr>
            </a:pPr>
            <a:r>
              <a:t>• Ambiguous queries ("help me practice") could match multiple apps</a:t>
            </a:r>
          </a:p>
          <a:p>
            <a:pPr algn="l">
              <a:spcBef>
                <a:spcPts val="400"/>
              </a:spcBef>
              <a:defRPr sz="1200" b="0">
                <a:solidFill>
                  <a:srgbClr val="64748B"/>
                </a:solidFill>
              </a:defRPr>
            </a:pPr>
            <a:r>
              <a:t>• Tool descriptions are the main lever — must be precise</a:t>
            </a:r>
          </a:p>
          <a:p>
            <a:pPr algn="l">
              <a:spcBef>
                <a:spcPts val="400"/>
              </a:spcBef>
              <a:defRPr sz="1200" b="0">
                <a:solidFill>
                  <a:srgbClr val="64748B"/>
                </a:solidFill>
              </a:defRPr>
            </a:pPr>
            <a:r>
              <a:t>• May need a routing heuristic or confirmation step</a:t>
            </a:r>
          </a:p>
          <a:p>
            <a:pPr algn="l">
              <a:spcBef>
                <a:spcPts val="400"/>
              </a:spcBef>
              <a:defRPr sz="1200" b="0">
                <a:solidFill>
                  <a:srgbClr val="64748B"/>
                </a:solidFill>
              </a:defRPr>
            </a:pPr>
            <a:r>
              <a:t>• Testing with adversarial prompts is critical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lstStyle/>
          <a:p>
            <a:pPr algn="l">
              <a:defRPr sz="3600" b="1">
                <a:solidFill>
                  <a:srgbClr val="1A1A2E"/>
                </a:solidFill>
              </a:defRPr>
            </a:pPr>
            <a:r>
              <a:t>How It All Connects: Chess Walkthrough</a:t>
            </a:r>
          </a:p>
        </p:txBody>
      </p:sp>
      <p:sp>
        <p:nvSpPr>
          <p:cNvPr id="3" name="Rounded Rectangle 2"/>
          <p:cNvSpPr/>
          <p:nvPr/>
        </p:nvSpPr>
        <p:spPr>
          <a:xfrm>
            <a:off x="731520" y="1051560"/>
            <a:ext cx="3657600" cy="45720"/>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371600"/>
            <a:ext cx="2148840" cy="2011680"/>
          </a:xfrm>
          <a:prstGeom prst="roundRect">
            <a:avLst>
              <a:gd name="adj" fmla="val 5000"/>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3B82F6"/>
                </a:solidFill>
              </a:defRPr>
            </a:pPr>
            <a:r>
              <a:t>1</a:t>
            </a:r>
          </a:p>
          <a:p>
            <a:pPr algn="ctr">
              <a:spcBef>
                <a:spcPts val="600"/>
              </a:spcBef>
              <a:defRPr sz="1400" b="1">
                <a:solidFill>
                  <a:srgbClr val="1A1A2E"/>
                </a:solidFill>
              </a:defRPr>
            </a:pPr>
            <a:r>
              <a:t>"Let's play chess"</a:t>
            </a:r>
          </a:p>
          <a:p>
            <a:pPr algn="ctr">
              <a:spcBef>
                <a:spcPts val="400"/>
              </a:spcBef>
              <a:defRPr sz="1100" b="0">
                <a:solidFill>
                  <a:srgbClr val="64748B"/>
                </a:solidFill>
              </a:defRPr>
            </a:pPr>
            <a:r>
              <a:t>User message</a:t>
            </a:r>
          </a:p>
        </p:txBody>
      </p:sp>
      <p:sp>
        <p:nvSpPr>
          <p:cNvPr id="5" name="Rounded Rectangle 4"/>
          <p:cNvSpPr/>
          <p:nvPr/>
        </p:nvSpPr>
        <p:spPr>
          <a:xfrm>
            <a:off x="2651760" y="1371600"/>
            <a:ext cx="2148840" cy="2011680"/>
          </a:xfrm>
          <a:prstGeom prst="roundRect">
            <a:avLst>
              <a:gd name="adj" fmla="val 5000"/>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F59E0B"/>
                </a:solidFill>
              </a:defRPr>
            </a:pPr>
            <a:r>
              <a:t>2</a:t>
            </a:r>
          </a:p>
          <a:p>
            <a:pPr algn="ctr">
              <a:spcBef>
                <a:spcPts val="600"/>
              </a:spcBef>
              <a:defRPr sz="1400" b="1">
                <a:solidFill>
                  <a:srgbClr val="1A1A2E"/>
                </a:solidFill>
              </a:defRPr>
            </a:pPr>
            <a:r>
              <a:t>LLM → chess_start_game</a:t>
            </a:r>
          </a:p>
          <a:p>
            <a:pPr algn="ctr">
              <a:spcBef>
                <a:spcPts val="400"/>
              </a:spcBef>
              <a:defRPr sz="1100" b="0">
                <a:solidFill>
                  <a:srgbClr val="64748B"/>
                </a:solidFill>
              </a:defRPr>
            </a:pPr>
            <a:r>
              <a:t>Function calling routes</a:t>
            </a:r>
            <a:br/>
            <a:r>
              <a:t>to chess tool</a:t>
            </a:r>
          </a:p>
        </p:txBody>
      </p:sp>
      <p:sp>
        <p:nvSpPr>
          <p:cNvPr id="6" name="Rounded Rectangle 5"/>
          <p:cNvSpPr/>
          <p:nvPr/>
        </p:nvSpPr>
        <p:spPr>
          <a:xfrm>
            <a:off x="4937760" y="1371600"/>
            <a:ext cx="2148840" cy="2011680"/>
          </a:xfrm>
          <a:prstGeom prst="roundRect">
            <a:avLst>
              <a:gd name="adj" fmla="val 5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10B981"/>
                </a:solidFill>
              </a:defRPr>
            </a:pPr>
            <a:r>
              <a:t>3</a:t>
            </a:r>
          </a:p>
          <a:p>
            <a:pPr algn="ctr">
              <a:spcBef>
                <a:spcPts val="600"/>
              </a:spcBef>
              <a:defRPr sz="1400" b="1">
                <a:solidFill>
                  <a:srgbClr val="1A1A2E"/>
                </a:solidFill>
              </a:defRPr>
            </a:pPr>
            <a:r>
              <a:t>Iframe loads chess app</a:t>
            </a:r>
          </a:p>
          <a:p>
            <a:pPr algn="ctr">
              <a:spcBef>
                <a:spcPts val="400"/>
              </a:spcBef>
              <a:defRPr sz="1100" b="0">
                <a:solidFill>
                  <a:srgbClr val="64748B"/>
                </a:solidFill>
              </a:defRPr>
            </a:pPr>
            <a:r>
              <a:t>Sandbox enforced</a:t>
            </a:r>
            <a:br/>
            <a:r>
              <a:t>APP_READY received</a:t>
            </a:r>
          </a:p>
        </p:txBody>
      </p:sp>
      <p:sp>
        <p:nvSpPr>
          <p:cNvPr id="7" name="Rounded Rectangle 6"/>
          <p:cNvSpPr/>
          <p:nvPr/>
        </p:nvSpPr>
        <p:spPr>
          <a:xfrm>
            <a:off x="7223760" y="1371600"/>
            <a:ext cx="2148840" cy="2011680"/>
          </a:xfrm>
          <a:prstGeom prst="roundRect">
            <a:avLst>
              <a:gd name="adj" fmla="val 5000"/>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3B82F6"/>
                </a:solidFill>
              </a:defRPr>
            </a:pPr>
            <a:r>
              <a:t>4</a:t>
            </a:r>
          </a:p>
          <a:p>
            <a:pPr algn="ctr">
              <a:spcBef>
                <a:spcPts val="600"/>
              </a:spcBef>
              <a:defRPr sz="1400" b="1">
                <a:solidFill>
                  <a:srgbClr val="1A1A2E"/>
                </a:solidFill>
              </a:defRPr>
            </a:pPr>
            <a:r>
              <a:t>Board renders in chat</a:t>
            </a:r>
          </a:p>
          <a:p>
            <a:pPr algn="ctr">
              <a:spcBef>
                <a:spcPts val="400"/>
              </a:spcBef>
              <a:defRPr sz="1100" b="0">
                <a:solidFill>
                  <a:srgbClr val="64748B"/>
                </a:solidFill>
              </a:defRPr>
            </a:pPr>
            <a:r>
              <a:t>User sees + interacts</a:t>
            </a:r>
            <a:br/>
            <a:r>
              <a:t>with chess board</a:t>
            </a:r>
          </a:p>
        </p:txBody>
      </p:sp>
      <p:sp>
        <p:nvSpPr>
          <p:cNvPr id="8" name="Rounded Rectangle 7"/>
          <p:cNvSpPr/>
          <p:nvPr/>
        </p:nvSpPr>
        <p:spPr>
          <a:xfrm>
            <a:off x="9509760" y="1371600"/>
            <a:ext cx="2148840" cy="2011680"/>
          </a:xfrm>
          <a:prstGeom prst="roundRect">
            <a:avLst>
              <a:gd name="adj" fmla="val 5000"/>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F59E0B"/>
                </a:solidFill>
              </a:defRPr>
            </a:pPr>
            <a:r>
              <a:t>5</a:t>
            </a:r>
          </a:p>
          <a:p>
            <a:pPr algn="ctr">
              <a:spcBef>
                <a:spcPts val="600"/>
              </a:spcBef>
              <a:defRPr sz="1400" b="1">
                <a:solidFill>
                  <a:srgbClr val="1A1A2E"/>
                </a:solidFill>
              </a:defRPr>
            </a:pPr>
            <a:r>
              <a:t>"What should I do?"</a:t>
            </a:r>
          </a:p>
          <a:p>
            <a:pPr algn="ctr">
              <a:spcBef>
                <a:spcPts val="400"/>
              </a:spcBef>
              <a:defRPr sz="1100" b="0">
                <a:solidFill>
                  <a:srgbClr val="64748B"/>
                </a:solidFill>
              </a:defRPr>
            </a:pPr>
            <a:r>
              <a:t>User asks mid-game</a:t>
            </a:r>
          </a:p>
        </p:txBody>
      </p:sp>
      <p:sp>
        <p:nvSpPr>
          <p:cNvPr id="9" name="Rounded Rectangle 8"/>
          <p:cNvSpPr/>
          <p:nvPr/>
        </p:nvSpPr>
        <p:spPr>
          <a:xfrm>
            <a:off x="365760" y="3840480"/>
            <a:ext cx="2148840" cy="2011680"/>
          </a:xfrm>
          <a:prstGeom prst="roundRect">
            <a:avLst>
              <a:gd name="adj" fmla="val 5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10B981"/>
                </a:solidFill>
              </a:defRPr>
            </a:pPr>
            <a:r>
              <a:t>6</a:t>
            </a:r>
          </a:p>
          <a:p>
            <a:pPr algn="ctr">
              <a:spcBef>
                <a:spcPts val="600"/>
              </a:spcBef>
              <a:defRPr sz="1400" b="1">
                <a:solidFill>
                  <a:srgbClr val="1A1A2E"/>
                </a:solidFill>
              </a:defRPr>
            </a:pPr>
            <a:r>
              <a:t>App sends STATE_UPDATE</a:t>
            </a:r>
          </a:p>
          <a:p>
            <a:pPr algn="ctr">
              <a:spcBef>
                <a:spcPts val="400"/>
              </a:spcBef>
              <a:defRPr sz="1100" b="0">
                <a:solidFill>
                  <a:srgbClr val="64748B"/>
                </a:solidFill>
              </a:defRPr>
            </a:pPr>
            <a:r>
              <a:t>FEN: rnbqkbnr/pp...</a:t>
            </a:r>
            <a:br/>
            <a:r>
              <a:t>Injected into LLM context</a:t>
            </a:r>
          </a:p>
        </p:txBody>
      </p:sp>
      <p:sp>
        <p:nvSpPr>
          <p:cNvPr id="10" name="Rounded Rectangle 9"/>
          <p:cNvSpPr/>
          <p:nvPr/>
        </p:nvSpPr>
        <p:spPr>
          <a:xfrm>
            <a:off x="2651760" y="3840480"/>
            <a:ext cx="2148840" cy="2011680"/>
          </a:xfrm>
          <a:prstGeom prst="roundRect">
            <a:avLst>
              <a:gd name="adj" fmla="val 5000"/>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3B82F6"/>
                </a:solidFill>
              </a:defRPr>
            </a:pPr>
            <a:r>
              <a:t>7</a:t>
            </a:r>
          </a:p>
          <a:p>
            <a:pPr algn="ctr">
              <a:spcBef>
                <a:spcPts val="600"/>
              </a:spcBef>
              <a:defRPr sz="1400" b="1">
                <a:solidFill>
                  <a:srgbClr val="1A1A2E"/>
                </a:solidFill>
              </a:defRPr>
            </a:pPr>
            <a:r>
              <a:t>LLM analyzes position</a:t>
            </a:r>
          </a:p>
          <a:p>
            <a:pPr algn="ctr">
              <a:spcBef>
                <a:spcPts val="400"/>
              </a:spcBef>
              <a:defRPr sz="1100" b="0">
                <a:solidFill>
                  <a:srgbClr val="64748B"/>
                </a:solidFill>
              </a:defRPr>
            </a:pPr>
            <a:r>
              <a:t>Responds: "Consider Nf3</a:t>
            </a:r>
            <a:br/>
            <a:r>
              <a:t>to control the center"</a:t>
            </a:r>
          </a:p>
        </p:txBody>
      </p:sp>
      <p:sp>
        <p:nvSpPr>
          <p:cNvPr id="11" name="Rounded Rectangle 10"/>
          <p:cNvSpPr/>
          <p:nvPr/>
        </p:nvSpPr>
        <p:spPr>
          <a:xfrm>
            <a:off x="4937760" y="3840480"/>
            <a:ext cx="2148840" cy="2011680"/>
          </a:xfrm>
          <a:prstGeom prst="roundRect">
            <a:avLst>
              <a:gd name="adj" fmla="val 5000"/>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F59E0B"/>
                </a:solidFill>
              </a:defRPr>
            </a:pPr>
            <a:r>
              <a:t>8</a:t>
            </a:r>
          </a:p>
          <a:p>
            <a:pPr algn="ctr">
              <a:spcBef>
                <a:spcPts val="600"/>
              </a:spcBef>
              <a:defRPr sz="1400" b="1">
                <a:solidFill>
                  <a:srgbClr val="1A1A2E"/>
                </a:solidFill>
              </a:defRPr>
            </a:pPr>
            <a:r>
              <a:t>Game ends naturally</a:t>
            </a:r>
          </a:p>
          <a:p>
            <a:pPr algn="ctr">
              <a:spcBef>
                <a:spcPts val="400"/>
              </a:spcBef>
              <a:defRPr sz="1100" b="0">
                <a:solidFill>
                  <a:srgbClr val="64748B"/>
                </a:solidFill>
              </a:defRPr>
            </a:pPr>
            <a:r>
              <a:t>App sends APP_COMPLETE</a:t>
            </a:r>
            <a:br/>
            <a:r>
              <a:t>with game result</a:t>
            </a:r>
          </a:p>
        </p:txBody>
      </p:sp>
      <p:sp>
        <p:nvSpPr>
          <p:cNvPr id="12" name="Rounded Rectangle 11"/>
          <p:cNvSpPr/>
          <p:nvPr/>
        </p:nvSpPr>
        <p:spPr>
          <a:xfrm>
            <a:off x="7223760" y="3840480"/>
            <a:ext cx="2148840" cy="2011680"/>
          </a:xfrm>
          <a:prstGeom prst="roundRect">
            <a:avLst>
              <a:gd name="adj" fmla="val 5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10B981"/>
                </a:solidFill>
              </a:defRPr>
            </a:pPr>
            <a:r>
              <a:t>9</a:t>
            </a:r>
          </a:p>
          <a:p>
            <a:pPr algn="ctr">
              <a:spcBef>
                <a:spcPts val="600"/>
              </a:spcBef>
              <a:defRPr sz="1400" b="1">
                <a:solidFill>
                  <a:srgbClr val="1A1A2E"/>
                </a:solidFill>
              </a:defRPr>
            </a:pPr>
            <a:r>
              <a:t>Chat resumes</a:t>
            </a:r>
          </a:p>
          <a:p>
            <a:pPr algn="ctr">
              <a:spcBef>
                <a:spcPts val="400"/>
              </a:spcBef>
              <a:defRPr sz="1100" b="0">
                <a:solidFill>
                  <a:srgbClr val="64748B"/>
                </a:solidFill>
              </a:defRPr>
            </a:pPr>
            <a:r>
              <a:t>LLM has full context</a:t>
            </a:r>
            <a:br/>
            <a:r>
              <a:t>about the game played</a:t>
            </a:r>
          </a:p>
        </p:txBody>
      </p:sp>
      <p:sp>
        <p:nvSpPr>
          <p:cNvPr id="13" name="Rounded Rectangle 12"/>
          <p:cNvSpPr/>
          <p:nvPr/>
        </p:nvSpPr>
        <p:spPr>
          <a:xfrm>
            <a:off x="9509760" y="3840480"/>
            <a:ext cx="2148840" cy="2011680"/>
          </a:xfrm>
          <a:prstGeom prst="roundRect">
            <a:avLst>
              <a:gd name="adj" fmla="val 5000"/>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lIns="127000" tIns="101600" rtlCol="0" anchor="ctr"/>
          <a:lstStyle/>
          <a:p>
            <a:pPr algn="ctr">
              <a:defRPr sz="2200" b="1">
                <a:solidFill>
                  <a:srgbClr val="3B82F6"/>
                </a:solidFill>
              </a:defRPr>
            </a:pPr>
            <a:r>
              <a:t>10</a:t>
            </a:r>
          </a:p>
          <a:p>
            <a:pPr algn="ctr">
              <a:spcBef>
                <a:spcPts val="600"/>
              </a:spcBef>
              <a:defRPr sz="1400" b="1">
                <a:solidFill>
                  <a:srgbClr val="1A1A2E"/>
                </a:solidFill>
              </a:defRPr>
            </a:pPr>
            <a:r>
              <a:t>User asks follow-up</a:t>
            </a:r>
          </a:p>
          <a:p>
            <a:pPr algn="ctr">
              <a:spcBef>
                <a:spcPts val="400"/>
              </a:spcBef>
              <a:defRPr sz="1100" b="0">
                <a:solidFill>
                  <a:srgbClr val="64748B"/>
                </a:solidFill>
              </a:defRPr>
            </a:pPr>
            <a:r>
              <a:t>"Why did I lose?" — LLM</a:t>
            </a:r>
            <a:br/>
            <a:r>
              <a:t>reasons from game history</a:t>
            </a:r>
          </a:p>
        </p:txBody>
      </p:sp>
      <p:sp>
        <p:nvSpPr>
          <p:cNvPr id="14" name="Rounded Rectangle 13"/>
          <p:cNvSpPr/>
          <p:nvPr/>
        </p:nvSpPr>
        <p:spPr>
          <a:xfrm>
            <a:off x="731520" y="6035040"/>
            <a:ext cx="10698480" cy="548640"/>
          </a:xfrm>
          <a:prstGeom prst="roundRect">
            <a:avLst>
              <a:gd name="adj" fmla="val 5000"/>
            </a:avLst>
          </a:prstGeom>
          <a:solidFill>
            <a:srgbClr val="EBF5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203200" tIns="76200" rtlCol="0" anchor="ctr"/>
          <a:lstStyle/>
          <a:p>
            <a:pPr algn="ctr">
              <a:defRPr sz="1400" b="1">
                <a:solidFill>
                  <a:srgbClr val="3B82F6"/>
                </a:solidFill>
              </a:defRPr>
            </a:pPr>
            <a:r>
              <a:t>Every step uses the same protocol. Weather and Spotify follow the same lifecycle — only the tool schemas and iframe content differ.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lstStyle/>
          <a:p>
            <a:pPr algn="l">
              <a:defRPr sz="3600" b="1">
                <a:solidFill>
                  <a:srgbClr val="1A1A2E"/>
                </a:solidFill>
              </a:defRPr>
            </a:pPr>
            <a:r>
              <a:t>Trade-offs &amp; Open Questions</a:t>
            </a:r>
          </a:p>
        </p:txBody>
      </p:sp>
      <p:sp>
        <p:nvSpPr>
          <p:cNvPr id="3" name="Rounded Rectangle 2"/>
          <p:cNvSpPr/>
          <p:nvPr/>
        </p:nvSpPr>
        <p:spPr>
          <a:xfrm>
            <a:off x="731520" y="1051560"/>
            <a:ext cx="3657600" cy="45720"/>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10698480" cy="1188720"/>
          </a:xfrm>
          <a:prstGeom prst="roundRect">
            <a:avLst>
              <a:gd name="adj" fmla="val 5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177800" tIns="101600" rtlCol="0" anchor="ctr"/>
          <a:lstStyle/>
          <a:p>
            <a:pPr algn="ctr">
              <a:defRPr sz="1600" b="1">
                <a:solidFill>
                  <a:srgbClr val="10B981"/>
                </a:solidFill>
              </a:defRPr>
            </a:pPr>
            <a:r>
              <a:t>Extend Chatbox vs. build from scratch</a:t>
            </a:r>
          </a:p>
          <a:p>
            <a:pPr algn="l">
              <a:spcBef>
                <a:spcPts val="400"/>
              </a:spcBef>
              <a:defRPr sz="1200" b="0">
                <a:solidFill>
                  <a:srgbClr val="64748B"/>
                </a:solidFill>
              </a:defRPr>
            </a:pPr>
            <a:r>
              <a:t>We chose to fork Chatbox — it gives us streaming, multi-provider LLM, conversation history, and a polished UI for free. The trade-off: Chatbox is an Electron desktop app. Its architecture (local-first, IndexedDB storage) isn't designed for a multi-user web platform. We use the web build target and add Supabase for server-side concerns, but some patterns won't translate cleanly.</a:t>
            </a:r>
          </a:p>
        </p:txBody>
      </p:sp>
      <p:sp>
        <p:nvSpPr>
          <p:cNvPr id="5" name="Rounded Rectangle 4"/>
          <p:cNvSpPr/>
          <p:nvPr/>
        </p:nvSpPr>
        <p:spPr>
          <a:xfrm>
            <a:off x="731520" y="2697480"/>
            <a:ext cx="10698480" cy="1188720"/>
          </a:xfrm>
          <a:prstGeom prst="roundRect">
            <a:avLst>
              <a:gd name="adj" fmla="val 5000"/>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lIns="177800" tIns="101600" rtlCol="0" anchor="ctr"/>
          <a:lstStyle/>
          <a:p>
            <a:pPr algn="ctr">
              <a:defRPr sz="1600" b="1">
                <a:solidFill>
                  <a:srgbClr val="F59E0B"/>
                </a:solidFill>
              </a:defRPr>
            </a:pPr>
            <a:r>
              <a:t>Strict iframe sandbox vs. developer convenience</a:t>
            </a:r>
          </a:p>
          <a:p>
            <a:pPr algn="l">
              <a:spcBef>
                <a:spcPts val="400"/>
              </a:spcBef>
              <a:defRPr sz="1200" b="0">
                <a:solidFill>
                  <a:srgbClr val="64748B"/>
                </a:solidFill>
              </a:defRPr>
            </a:pPr>
            <a:r>
              <a:t>Omitting allow-same-origin means apps can't use their own cookies or localStorage. This is the right call for safety, but it means every app that needs persistent state must either use its own backend or ask the platform to store data via postMessage. That's friction for app developers. We mitigate with an SDK that handles the boilerplate.</a:t>
            </a:r>
          </a:p>
        </p:txBody>
      </p:sp>
      <p:sp>
        <p:nvSpPr>
          <p:cNvPr id="7" name="Rounded Rectangle 6"/>
          <p:cNvSpPr/>
          <p:nvPr/>
        </p:nvSpPr>
        <p:spPr>
          <a:xfrm>
            <a:off x="731520" y="4029477"/>
            <a:ext cx="10698480" cy="1920240"/>
          </a:xfrm>
          <a:prstGeom prst="roundRect">
            <a:avLst>
              <a:gd name="adj" fmla="val 5000"/>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lIns="177800" tIns="127000" rtlCol="0" anchor="ctr"/>
          <a:lstStyle/>
          <a:p>
            <a:pPr algn="ctr">
              <a:defRPr sz="1800" b="1">
                <a:solidFill>
                  <a:srgbClr val="EF4444"/>
                </a:solidFill>
              </a:defRPr>
            </a:pPr>
            <a:r>
              <a:rPr dirty="0"/>
              <a:t>Open Questions We Haven't Fully Solved</a:t>
            </a:r>
          </a:p>
          <a:p>
            <a:pPr algn="l">
              <a:spcBef>
                <a:spcPts val="500"/>
              </a:spcBef>
              <a:defRPr sz="1200" b="0">
                <a:solidFill>
                  <a:srgbClr val="64748B"/>
                </a:solidFill>
              </a:defRPr>
            </a:pPr>
            <a:r>
              <a:rPr dirty="0"/>
              <a:t>• OAuth in popup context — popup blockers vary across browsers. Fallback UX is unclear. Need real-device testing.</a:t>
            </a:r>
          </a:p>
          <a:p>
            <a:pPr algn="l">
              <a:spcBef>
                <a:spcPts val="500"/>
              </a:spcBef>
              <a:defRPr sz="1200" b="0">
                <a:solidFill>
                  <a:srgbClr val="64748B"/>
                </a:solidFill>
              </a:defRPr>
            </a:pPr>
            <a:r>
              <a:rPr dirty="0"/>
              <a:t>• Context window pressure at scale — 3 apps with 3 tools each is fine. 20+ apps? We'll need per-conversation tool pruning, which adds complexity.</a:t>
            </a:r>
          </a:p>
          <a:p>
            <a:pPr algn="l">
              <a:spcBef>
                <a:spcPts val="500"/>
              </a:spcBef>
              <a:defRPr sz="1200" b="0">
                <a:solidFill>
                  <a:srgbClr val="64748B"/>
                </a:solidFill>
              </a:defRPr>
            </a:pPr>
            <a:r>
              <a:rPr dirty="0"/>
              <a:t>• App review pipeline — MVP uses admin-approved registration. Production K-12 needs automated content scanning. Out of scope for the sprint, but architecturally important.</a:t>
            </a:r>
          </a:p>
          <a:p>
            <a:pPr algn="l">
              <a:spcBef>
                <a:spcPts val="500"/>
              </a:spcBef>
              <a:defRPr sz="1200" b="0">
                <a:solidFill>
                  <a:srgbClr val="64748B"/>
                </a:solidFill>
              </a:defRPr>
            </a:pPr>
            <a:r>
              <a:rPr dirty="0"/>
              <a:t>• State restoration reliability — if an app crashes mid-interaction, can it resume from the last STATE_UPDATE? Depends entirely on the app. The platform can't guarantee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ounded Rectangle 1"/>
          <p:cNvSpPr/>
          <p:nvPr/>
        </p:nvSpPr>
        <p:spPr>
          <a:xfrm>
            <a:off x="0" y="2560320"/>
            <a:ext cx="12191695" cy="54864"/>
          </a:xfrm>
          <a:prstGeom prst="roundRect">
            <a:avLst>
              <a:gd name="adj" fmla="val 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10058400" cy="1645920"/>
          </a:xfrm>
          <a:prstGeom prst="rect">
            <a:avLst/>
          </a:prstGeom>
          <a:noFill/>
        </p:spPr>
        <p:txBody>
          <a:bodyPr wrap="square"/>
          <a:lstStyle/>
          <a:p>
            <a:pPr algn="l">
              <a:defRPr sz="3200" b="1">
                <a:solidFill>
                  <a:srgbClr val="FFFFFF"/>
                </a:solidFill>
              </a:defRPr>
            </a:pPr>
            <a:r>
              <a:t>Three decisions define this architecture:</a:t>
            </a:r>
          </a:p>
        </p:txBody>
      </p:sp>
      <p:sp>
        <p:nvSpPr>
          <p:cNvPr id="4" name="TextBox 3"/>
          <p:cNvSpPr txBox="1"/>
          <p:nvPr/>
        </p:nvSpPr>
        <p:spPr>
          <a:xfrm>
            <a:off x="1097280" y="3108960"/>
            <a:ext cx="9875520" cy="548640"/>
          </a:xfrm>
          <a:prstGeom prst="rect">
            <a:avLst/>
          </a:prstGeom>
          <a:noFill/>
        </p:spPr>
        <p:txBody>
          <a:bodyPr wrap="square"/>
          <a:lstStyle/>
          <a:p>
            <a:pPr algn="l">
              <a:defRPr sz="2200" b="1">
                <a:solidFill>
                  <a:srgbClr val="3B82F6"/>
                </a:solidFill>
              </a:defRPr>
            </a:pPr>
            <a:r>
              <a:t>1. Iframes for isolation</a:t>
            </a:r>
          </a:p>
          <a:p>
            <a:pPr algn="l">
              <a:spcBef>
                <a:spcPts val="200"/>
              </a:spcBef>
              <a:defRPr sz="1800" b="0">
                <a:solidFill>
                  <a:srgbClr val="E2E8F0"/>
                </a:solidFill>
              </a:defRPr>
            </a:pPr>
            <a:r>
              <a:t>— safety is enforced by the browser, not by trust</a:t>
            </a:r>
          </a:p>
        </p:txBody>
      </p:sp>
      <p:sp>
        <p:nvSpPr>
          <p:cNvPr id="5" name="TextBox 4"/>
          <p:cNvSpPr txBox="1"/>
          <p:nvPr/>
        </p:nvSpPr>
        <p:spPr>
          <a:xfrm>
            <a:off x="1097280" y="3840480"/>
            <a:ext cx="9875520" cy="548640"/>
          </a:xfrm>
          <a:prstGeom prst="rect">
            <a:avLst/>
          </a:prstGeom>
          <a:noFill/>
        </p:spPr>
        <p:txBody>
          <a:bodyPr wrap="square"/>
          <a:lstStyle/>
          <a:p>
            <a:pPr algn="l">
              <a:defRPr sz="2200" b="1">
                <a:solidFill>
                  <a:srgbClr val="3B82F6"/>
                </a:solidFill>
              </a:defRPr>
            </a:pPr>
            <a:r>
              <a:t>2. Typed postMessage protocol</a:t>
            </a:r>
          </a:p>
          <a:p>
            <a:pPr algn="l">
              <a:spcBef>
                <a:spcPts val="200"/>
              </a:spcBef>
              <a:defRPr sz="1800" b="0">
                <a:solidFill>
                  <a:srgbClr val="E2E8F0"/>
                </a:solidFill>
              </a:defRPr>
            </a:pPr>
            <a:r>
              <a:t>— the universal contract between platform and apps</a:t>
            </a:r>
          </a:p>
        </p:txBody>
      </p:sp>
      <p:sp>
        <p:nvSpPr>
          <p:cNvPr id="6" name="TextBox 5"/>
          <p:cNvSpPr txBox="1"/>
          <p:nvPr/>
        </p:nvSpPr>
        <p:spPr>
          <a:xfrm>
            <a:off x="1097280" y="4572000"/>
            <a:ext cx="9875520" cy="548640"/>
          </a:xfrm>
          <a:prstGeom prst="rect">
            <a:avLst/>
          </a:prstGeom>
          <a:noFill/>
        </p:spPr>
        <p:txBody>
          <a:bodyPr wrap="square"/>
          <a:lstStyle/>
          <a:p>
            <a:pPr algn="l">
              <a:defRPr sz="2200" b="1">
                <a:solidFill>
                  <a:srgbClr val="3B82F6"/>
                </a:solidFill>
              </a:defRPr>
            </a:pPr>
            <a:r>
              <a:t>3. Plugin tools as AI SDK function calls</a:t>
            </a:r>
          </a:p>
          <a:p>
            <a:pPr algn="l">
              <a:spcBef>
                <a:spcPts val="200"/>
              </a:spcBef>
              <a:defRPr sz="1800" b="0">
                <a:solidFill>
                  <a:srgbClr val="E2E8F0"/>
                </a:solidFill>
              </a:defRPr>
            </a:pPr>
            <a:r>
              <a:t>— the LLM routes naturally, we don't rebuild the wheel</a:t>
            </a:r>
          </a:p>
        </p:txBody>
      </p:sp>
      <p:sp>
        <p:nvSpPr>
          <p:cNvPr id="7" name="TextBox 6"/>
          <p:cNvSpPr txBox="1"/>
          <p:nvPr/>
        </p:nvSpPr>
        <p:spPr>
          <a:xfrm>
            <a:off x="1097280" y="5669280"/>
            <a:ext cx="9875520" cy="548640"/>
          </a:xfrm>
          <a:prstGeom prst="rect">
            <a:avLst/>
          </a:prstGeom>
          <a:noFill/>
        </p:spPr>
        <p:txBody>
          <a:bodyPr wrap="square"/>
          <a:lstStyle/>
          <a:p>
            <a:pPr algn="l">
              <a:defRPr sz="1600" b="0">
                <a:solidFill>
                  <a:srgbClr val="64748B"/>
                </a:solidFill>
              </a:defRPr>
            </a:pPr>
            <a:r>
              <a:t>"A simple chat with one rock-solid integration beats a flashy platform where apps break mid-conversation."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TotalTime>
  <Words>2825</Words>
  <Application>Microsoft Office PowerPoint</Application>
  <PresentationFormat>Widescreen</PresentationFormat>
  <Paragraphs>173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Luis Ramos</cp:lastModifiedBy>
  <cp:revision>3</cp:revision>
  <dcterms:created xsi:type="dcterms:W3CDTF">2013-01-27T09:14:16Z</dcterms:created>
  <dcterms:modified xsi:type="dcterms:W3CDTF">2026-03-31T20:36:54Z</dcterms:modified>
  <cp:category/>
</cp:coreProperties>
</file>